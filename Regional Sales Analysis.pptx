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2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64" d="100"/>
          <a:sy n="64" d="100"/>
        </p:scale>
        <p:origin x="75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5D0D28F3-5955-4E99-9990-965BB7ABA30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B42983A1-9BAC-4F9C-B2A2-609EC0CA9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04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D28F3-5955-4E99-9990-965BB7ABA30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983A1-9BAC-4F9C-B2A2-609EC0CA9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17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D0D28F3-5955-4E99-9990-965BB7ABA30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42983A1-9BAC-4F9C-B2A2-609EC0CA9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245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D28F3-5955-4E99-9990-965BB7ABA30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983A1-9BAC-4F9C-B2A2-609EC0CA9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65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D28F3-5955-4E99-9990-965BB7ABA30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983A1-9BAC-4F9C-B2A2-609EC0CA9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54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D28F3-5955-4E99-9990-965BB7ABA30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983A1-9BAC-4F9C-B2A2-609EC0CA9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095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D28F3-5955-4E99-9990-965BB7ABA30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983A1-9BAC-4F9C-B2A2-609EC0CA9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687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D28F3-5955-4E99-9990-965BB7ABA30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983A1-9BAC-4F9C-B2A2-609EC0CA9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818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D28F3-5955-4E99-9990-965BB7ABA30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983A1-9BAC-4F9C-B2A2-609EC0CA9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083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D28F3-5955-4E99-9990-965BB7ABA30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983A1-9BAC-4F9C-B2A2-609EC0CA9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721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D0D28F3-5955-4E99-9990-965BB7ABA30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42983A1-9BAC-4F9C-B2A2-609EC0CA9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589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D0D28F3-5955-4E99-9990-965BB7ABA30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42983A1-9BAC-4F9C-B2A2-609EC0CA934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62859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D0D28F3-5955-4E99-9990-965BB7ABA30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42983A1-9BAC-4F9C-B2A2-609EC0CA9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7081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D28F3-5955-4E99-9990-965BB7ABA30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983A1-9BAC-4F9C-B2A2-609EC0CA9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818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D28F3-5955-4E99-9990-965BB7ABA30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983A1-9BAC-4F9C-B2A2-609EC0CA9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9778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D28F3-5955-4E99-9990-965BB7ABA30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983A1-9BAC-4F9C-B2A2-609EC0CA9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75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D0D28F3-5955-4E99-9990-965BB7ABA30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42983A1-9BAC-4F9C-B2A2-609EC0CA9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217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D28F3-5955-4E99-9990-965BB7ABA30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2983A1-9BAC-4F9C-B2A2-609EC0CA9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7178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778C1-FDC0-881C-7290-EE90080DD8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Regional Sales Analysis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98932F-F731-828F-12B4-74C1934698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Exploratory Data Analysis </a:t>
            </a:r>
          </a:p>
        </p:txBody>
      </p:sp>
    </p:spTree>
    <p:extLst>
      <p:ext uri="{BB962C8B-B14F-4D97-AF65-F5344CB8AC3E}">
        <p14:creationId xmlns:p14="http://schemas.microsoft.com/office/powerpoint/2010/main" val="296065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B7DF-2AFB-575F-3C9B-FE5C07CA5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764373"/>
            <a:ext cx="9906000" cy="1293028"/>
          </a:xfrm>
        </p:spPr>
        <p:txBody>
          <a:bodyPr/>
          <a:lstStyle/>
          <a:p>
            <a:r>
              <a:rPr lang="en-US" dirty="0"/>
              <a:t>Problem Statement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79988-009E-2F7E-8370-B1413E041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 sales strategies lack data-driven alignment with revenue and profit drivers across regions, channels, and products, leading to suboptimal performance and high concentration risk.</a:t>
            </a:r>
          </a:p>
          <a:p>
            <a:endParaRPr lang="en-US" dirty="0"/>
          </a:p>
          <a:p>
            <a:r>
              <a:rPr lang="en-US" dirty="0"/>
              <a:t>Utilize EDA to </a:t>
            </a:r>
            <a:r>
              <a:rPr lang="en-US" b="1" dirty="0"/>
              <a:t>identify core drivers</a:t>
            </a:r>
            <a:r>
              <a:rPr lang="en-US" dirty="0"/>
              <a:t>, </a:t>
            </a:r>
            <a:r>
              <a:rPr lang="en-US" b="1" dirty="0"/>
              <a:t>uncover trends/outliers</a:t>
            </a:r>
            <a:r>
              <a:rPr lang="en-US" dirty="0"/>
              <a:t>, and </a:t>
            </a:r>
            <a:r>
              <a:rPr lang="en-US" b="1" dirty="0"/>
              <a:t>measure performance </a:t>
            </a:r>
            <a:r>
              <a:rPr lang="en-US" dirty="0"/>
              <a:t>to strategically optimize pricing, promotions, and expansion for sustained growth and reduced risk.</a:t>
            </a:r>
          </a:p>
        </p:txBody>
      </p:sp>
    </p:spTree>
    <p:extLst>
      <p:ext uri="{BB962C8B-B14F-4D97-AF65-F5344CB8AC3E}">
        <p14:creationId xmlns:p14="http://schemas.microsoft.com/office/powerpoint/2010/main" val="4163631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9EC26-4AE2-033A-1D7A-2D5F413E5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8EA48-EA80-8339-58F5-1B02083DA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Exploratory Data Analysis (EDA):</a:t>
            </a:r>
            <a:r>
              <a:rPr lang="en-US" dirty="0"/>
              <a:t> Clean, transform, and visualize sales and profit data.</a:t>
            </a:r>
          </a:p>
          <a:p>
            <a:r>
              <a:rPr lang="en-US" b="1" dirty="0"/>
              <a:t>Driver Identification:</a:t>
            </a:r>
            <a:r>
              <a:rPr lang="en-US" dirty="0"/>
              <a:t> Use decomposition (e.g., Pareto analysis) to pinpoint the products, channels, and regions contributing most to revenue and profit.</a:t>
            </a:r>
          </a:p>
          <a:p>
            <a:r>
              <a:rPr lang="en-US" b="1" dirty="0"/>
              <a:t>Temporal Analysis:</a:t>
            </a:r>
            <a:r>
              <a:rPr lang="en-US" dirty="0"/>
              <a:t> Apply time-series plots and decomposition to uncover seasonality, long-term trends, and sales outliers.</a:t>
            </a:r>
          </a:p>
          <a:p>
            <a:r>
              <a:rPr lang="en-US" b="1" dirty="0"/>
              <a:t>Strategic Recommendations:</a:t>
            </a:r>
            <a:r>
              <a:rPr lang="en-US" dirty="0"/>
              <a:t> Translate findings into actionable recommendations for optimizing pricing, improving promotional effectiveness, and identifying low-risk expansion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1118048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02E60-0C17-76FF-5A88-8BCCBA2EB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6A9F586-1734-D008-6901-DCC486AF4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1997903"/>
              </p:ext>
            </p:extLst>
          </p:nvPr>
        </p:nvGraphicFramePr>
        <p:xfrm>
          <a:off x="685800" y="2005081"/>
          <a:ext cx="10820400" cy="434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800">
                  <a:extLst>
                    <a:ext uri="{9D8B030D-6E8A-4147-A177-3AD203B41FA5}">
                      <a16:colId xmlns:a16="http://schemas.microsoft.com/office/drawing/2014/main" val="3482899621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906408010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4237750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aseline="0" dirty="0">
                          <a:effectLst/>
                        </a:rPr>
                        <a:t>Category</a:t>
                      </a:r>
                    </a:p>
                  </a:txBody>
                  <a:tcPr marL="9525" marR="9525" marT="6350" marB="63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aseline="0" dirty="0">
                          <a:effectLst/>
                        </a:rPr>
                        <a:t>Key Metrics/Dimensions</a:t>
                      </a:r>
                    </a:p>
                  </a:txBody>
                  <a:tcPr marL="9525" marR="9525" marT="6350" marB="63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aseline="0">
                          <a:effectLst/>
                        </a:rPr>
                        <a:t>Data Snapshot</a:t>
                      </a:r>
                    </a:p>
                  </a:txBody>
                  <a:tcPr marL="9525" marR="9525" marT="6350" marB="6350" anchor="b"/>
                </a:tc>
                <a:extLst>
                  <a:ext uri="{0D108BD9-81ED-4DB2-BD59-A6C34878D82A}">
                    <a16:rowId xmlns:a16="http://schemas.microsoft.com/office/drawing/2014/main" val="956420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aseline="0" dirty="0">
                          <a:effectLst/>
                        </a:rPr>
                        <a:t>Source &amp; Scope</a:t>
                      </a:r>
                    </a:p>
                  </a:txBody>
                  <a:tcPr marL="9525" marR="9525" marT="6350" marB="63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aseline="0" dirty="0">
                          <a:effectLst/>
                        </a:rPr>
                        <a:t>Source:</a:t>
                      </a:r>
                    </a:p>
                  </a:txBody>
                  <a:tcPr marL="9525" marR="9525" marT="6350" marB="63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aseline="0" dirty="0">
                          <a:effectLst/>
                        </a:rPr>
                        <a:t>Corporate Sales &amp; Budget Datasets</a:t>
                      </a:r>
                    </a:p>
                  </a:txBody>
                  <a:tcPr marL="0" marR="0" marT="6350" marB="6350" anchor="b"/>
                </a:tc>
                <a:extLst>
                  <a:ext uri="{0D108BD9-81ED-4DB2-BD59-A6C34878D82A}">
                    <a16:rowId xmlns:a16="http://schemas.microsoft.com/office/drawing/2014/main" val="1093861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600" baseline="0" dirty="0">
                        <a:effectLst/>
                      </a:endParaRPr>
                    </a:p>
                  </a:txBody>
                  <a:tcPr marL="9525" marR="9525" marT="6350" marB="63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aseline="0" dirty="0">
                          <a:effectLst/>
                        </a:rPr>
                        <a:t>Sales Time Period:</a:t>
                      </a:r>
                    </a:p>
                  </a:txBody>
                  <a:tcPr marL="9525" marR="9525" marT="6350" marB="63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aseline="0" dirty="0">
                          <a:effectLst/>
                        </a:rPr>
                        <a:t>4 Years (January 1, 2014, to December 31, 2017)</a:t>
                      </a:r>
                    </a:p>
                  </a:txBody>
                  <a:tcPr marL="0" marR="0" marT="6350" marB="6350" anchor="b"/>
                </a:tc>
                <a:extLst>
                  <a:ext uri="{0D108BD9-81ED-4DB2-BD59-A6C34878D82A}">
                    <a16:rowId xmlns:a16="http://schemas.microsoft.com/office/drawing/2014/main" val="2332325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600" baseline="0">
                        <a:effectLst/>
                      </a:endParaRPr>
                    </a:p>
                  </a:txBody>
                  <a:tcPr marL="9525" marR="9525" marT="6350" marB="63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aseline="0" dirty="0">
                          <a:effectLst/>
                        </a:rPr>
                        <a:t>Budget Scope:</a:t>
                      </a:r>
                    </a:p>
                  </a:txBody>
                  <a:tcPr marL="9525" marR="9525" marT="6350" marB="63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aseline="0">
                          <a:effectLst/>
                        </a:rPr>
                        <a:t>2017 Product Budgets only</a:t>
                      </a:r>
                    </a:p>
                  </a:txBody>
                  <a:tcPr marL="0" marR="0" marT="6350" marB="6350" anchor="b"/>
                </a:tc>
                <a:extLst>
                  <a:ext uri="{0D108BD9-81ED-4DB2-BD59-A6C34878D82A}">
                    <a16:rowId xmlns:a16="http://schemas.microsoft.com/office/drawing/2014/main" val="1191620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aseline="0">
                          <a:effectLst/>
                        </a:rPr>
                        <a:t>Key Metrics</a:t>
                      </a:r>
                    </a:p>
                  </a:txBody>
                  <a:tcPr marL="9525" marR="9525" marT="6350" marB="63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aseline="0" dirty="0">
                          <a:effectLst/>
                        </a:rPr>
                        <a:t>Total Revenue:</a:t>
                      </a:r>
                    </a:p>
                  </a:txBody>
                  <a:tcPr marL="9525" marR="9525" marT="6350" marB="63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aseline="0">
                          <a:effectLst/>
                        </a:rPr>
                        <a:t>$1.24 Billion (approx.)</a:t>
                      </a:r>
                    </a:p>
                  </a:txBody>
                  <a:tcPr marL="0" marR="0" marT="6350" marB="6350" anchor="b"/>
                </a:tc>
                <a:extLst>
                  <a:ext uri="{0D108BD9-81ED-4DB2-BD59-A6C34878D82A}">
                    <a16:rowId xmlns:a16="http://schemas.microsoft.com/office/drawing/2014/main" val="1225912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600" baseline="0">
                        <a:effectLst/>
                      </a:endParaRPr>
                    </a:p>
                  </a:txBody>
                  <a:tcPr marL="9525" marR="9525" marT="6350" marB="63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aseline="0" dirty="0">
                          <a:effectLst/>
                        </a:rPr>
                        <a:t>Total Gross Profit:</a:t>
                      </a:r>
                    </a:p>
                  </a:txBody>
                  <a:tcPr marL="9525" marR="9525" marT="6350" marB="63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aseline="0">
                          <a:effectLst/>
                        </a:rPr>
                        <a:t>$461.8 Million (approx.)</a:t>
                      </a:r>
                    </a:p>
                  </a:txBody>
                  <a:tcPr marL="0" marR="0" marT="6350" marB="6350" anchor="b"/>
                </a:tc>
                <a:extLst>
                  <a:ext uri="{0D108BD9-81ED-4DB2-BD59-A6C34878D82A}">
                    <a16:rowId xmlns:a16="http://schemas.microsoft.com/office/drawing/2014/main" val="3967482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600" baseline="0">
                        <a:effectLst/>
                      </a:endParaRPr>
                    </a:p>
                  </a:txBody>
                  <a:tcPr marL="9525" marR="9525" marT="6350" marB="63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aseline="0" dirty="0">
                          <a:effectLst/>
                        </a:rPr>
                        <a:t>Total Records:</a:t>
                      </a:r>
                    </a:p>
                  </a:txBody>
                  <a:tcPr marL="9525" marR="9525" marT="6350" marB="63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aseline="0">
                          <a:effectLst/>
                        </a:rPr>
                        <a:t>64,104 individual sales transactions</a:t>
                      </a:r>
                    </a:p>
                  </a:txBody>
                  <a:tcPr marL="0" marR="0" marT="6350" marB="6350" anchor="b"/>
                </a:tc>
                <a:extLst>
                  <a:ext uri="{0D108BD9-81ED-4DB2-BD59-A6C34878D82A}">
                    <a16:rowId xmlns:a16="http://schemas.microsoft.com/office/drawing/2014/main" val="3127699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aseline="0">
                          <a:effectLst/>
                        </a:rPr>
                        <a:t>Grouping Variables</a:t>
                      </a:r>
                    </a:p>
                  </a:txBody>
                  <a:tcPr marL="9525" marR="9525" marT="6350" marB="63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aseline="0">
                          <a:effectLst/>
                        </a:rPr>
                        <a:t>Products:</a:t>
                      </a:r>
                    </a:p>
                  </a:txBody>
                  <a:tcPr marL="9525" marR="9525" marT="6350" marB="63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aseline="0" dirty="0">
                          <a:effectLst/>
                        </a:rPr>
                        <a:t>30 unique products</a:t>
                      </a:r>
                    </a:p>
                  </a:txBody>
                  <a:tcPr marL="0" marR="0" marT="6350" marB="6350" anchor="b"/>
                </a:tc>
                <a:extLst>
                  <a:ext uri="{0D108BD9-81ED-4DB2-BD59-A6C34878D82A}">
                    <a16:rowId xmlns:a16="http://schemas.microsoft.com/office/drawing/2014/main" val="2655648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600" baseline="0">
                        <a:effectLst/>
                      </a:endParaRPr>
                    </a:p>
                  </a:txBody>
                  <a:tcPr marL="9525" marR="9525" marT="6350" marB="63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aseline="0">
                          <a:effectLst/>
                        </a:rPr>
                        <a:t>Sales Channels:</a:t>
                      </a:r>
                    </a:p>
                  </a:txBody>
                  <a:tcPr marL="9525" marR="9525" marT="6350" marB="63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aseline="0" dirty="0">
                          <a:effectLst/>
                        </a:rPr>
                        <a:t>3 major channels (Wholesale, Distributor, Export)</a:t>
                      </a:r>
                    </a:p>
                  </a:txBody>
                  <a:tcPr marL="0" marR="0" marT="6350" marB="6350" anchor="b"/>
                </a:tc>
                <a:extLst>
                  <a:ext uri="{0D108BD9-81ED-4DB2-BD59-A6C34878D82A}">
                    <a16:rowId xmlns:a16="http://schemas.microsoft.com/office/drawing/2014/main" val="1161772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600" baseline="0">
                        <a:effectLst/>
                      </a:endParaRPr>
                    </a:p>
                  </a:txBody>
                  <a:tcPr marL="9525" marR="9525" marT="6350" marB="63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aseline="0" dirty="0">
                          <a:effectLst/>
                        </a:rPr>
                        <a:t>Regions:</a:t>
                      </a:r>
                    </a:p>
                  </a:txBody>
                  <a:tcPr marL="9525" marR="9525" marT="6350" marB="63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baseline="0" dirty="0">
                          <a:effectLst/>
                        </a:rPr>
                        <a:t>993 unique delivery region indices (requires mapping/joining to Regions and State Regions tables)</a:t>
                      </a:r>
                    </a:p>
                  </a:txBody>
                  <a:tcPr marL="0" marR="0" marT="6350" marB="6350" anchor="b"/>
                </a:tc>
                <a:extLst>
                  <a:ext uri="{0D108BD9-81ED-4DB2-BD59-A6C34878D82A}">
                    <a16:rowId xmlns:a16="http://schemas.microsoft.com/office/drawing/2014/main" val="908569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923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5EDB0-D5AE-E9FB-23C3-9652DBC04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7256" y="764373"/>
            <a:ext cx="8608943" cy="1293028"/>
          </a:xfrm>
        </p:spPr>
        <p:txBody>
          <a:bodyPr/>
          <a:lstStyle/>
          <a:p>
            <a:r>
              <a:rPr lang="en-US" dirty="0"/>
              <a:t>Project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EE2CD-5BD3-B773-89B3-E886B927D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Consolidation &amp; Preparation</a:t>
            </a:r>
          </a:p>
          <a:p>
            <a:pPr lvl="1"/>
            <a:r>
              <a:rPr lang="en-US" b="1" dirty="0"/>
              <a:t>Acquisition &amp; Merge:</a:t>
            </a:r>
            <a:r>
              <a:rPr lang="en-US" dirty="0"/>
              <a:t> Loaded all six CSV sheets and created a </a:t>
            </a:r>
            <a:r>
              <a:rPr lang="en-US" b="1" dirty="0"/>
              <a:t>single master data table</a:t>
            </a:r>
            <a:r>
              <a:rPr lang="en-US" dirty="0"/>
              <a:t> by joining them (Customers, Products, Regions, Budgets) to the Sales Orders base.</a:t>
            </a:r>
          </a:p>
          <a:p>
            <a:pPr lvl="1"/>
            <a:r>
              <a:rPr lang="en-US" b="1" dirty="0"/>
              <a:t>Cleansing &amp; Scope:</a:t>
            </a:r>
            <a:r>
              <a:rPr lang="en-US" dirty="0"/>
              <a:t> Filtered data to ensure a clean, four-year analysis period (</a:t>
            </a:r>
            <a:r>
              <a:rPr lang="en-US" b="1" dirty="0"/>
              <a:t>2014–2017</a:t>
            </a:r>
            <a:r>
              <a:rPr lang="en-US" dirty="0"/>
              <a:t>) and removed extraneous geographical and order-related columns.</a:t>
            </a:r>
          </a:p>
          <a:p>
            <a:r>
              <a:rPr lang="en-US" b="1" dirty="0"/>
              <a:t>Metric Generation &amp; Dimensional Enrichment</a:t>
            </a:r>
          </a:p>
          <a:p>
            <a:pPr lvl="1"/>
            <a:r>
              <a:rPr lang="en-US" b="1" dirty="0"/>
              <a:t>Financial Metrics:</a:t>
            </a:r>
            <a:r>
              <a:rPr lang="en-US" dirty="0"/>
              <a:t> Calculated the primary performance indicators: </a:t>
            </a:r>
            <a:r>
              <a:rPr lang="en-US" b="1" dirty="0"/>
              <a:t>Profit</a:t>
            </a:r>
            <a:r>
              <a:rPr lang="en-US" dirty="0"/>
              <a:t> (Revenue - Total Cost) and </a:t>
            </a:r>
            <a:r>
              <a:rPr lang="en-US" b="1" dirty="0"/>
              <a:t>Total Cost Per Transaction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Temporal Dimensions:</a:t>
            </a:r>
            <a:r>
              <a:rPr lang="en-US" dirty="0"/>
              <a:t> Derived Year and segmented orders into four calendar </a:t>
            </a:r>
            <a:r>
              <a:rPr lang="en-US" b="1" dirty="0"/>
              <a:t>Seasons</a:t>
            </a:r>
            <a:r>
              <a:rPr lang="en-US" dirty="0"/>
              <a:t> (Winter, Spring, Summer, Autumn) from the </a:t>
            </a:r>
            <a:r>
              <a:rPr lang="en-US" dirty="0" err="1"/>
              <a:t>OrderDate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602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CDD8D-B51A-BC5F-64B3-F63B54D6C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2000"/>
            <a:ext cx="11506200" cy="1295400"/>
          </a:xfrm>
        </p:spPr>
        <p:txBody>
          <a:bodyPr/>
          <a:lstStyle/>
          <a:p>
            <a:r>
              <a:rPr lang="en-US" dirty="0"/>
              <a:t>Exploratory Data Analysis (EDA)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CCC559A-4179-53FD-5EC6-520818F15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3223" y="2168893"/>
            <a:ext cx="6455456" cy="823912"/>
          </a:xfrm>
        </p:spPr>
        <p:txBody>
          <a:bodyPr>
            <a:normAutofit/>
          </a:bodyPr>
          <a:lstStyle/>
          <a:p>
            <a:pPr algn="ctr"/>
            <a:r>
              <a:rPr lang="en-US" u="sng" dirty="0"/>
              <a:t>Monthly Revenue Trend (2014–2017)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4E74A7-C62C-1E31-4C36-008FDFE85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0" y="3257618"/>
            <a:ext cx="3334578" cy="308601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Annual Seasonality:</a:t>
            </a:r>
          </a:p>
          <a:p>
            <a:pPr marL="0" indent="0">
              <a:buNone/>
            </a:pPr>
            <a:r>
              <a:rPr lang="en-US" dirty="0"/>
              <a:t>Revenue typically peaks in the </a:t>
            </a:r>
            <a:r>
              <a:rPr lang="en-US" b="1" dirty="0"/>
              <a:t>Summer/Autumn</a:t>
            </a:r>
            <a:r>
              <a:rPr lang="en-US" dirty="0"/>
              <a:t> months and drops slightly in </a:t>
            </a:r>
            <a:r>
              <a:rPr lang="en-US" b="1" dirty="0"/>
              <a:t>Winter</a:t>
            </a:r>
            <a:r>
              <a:rPr lang="en-US" dirty="0"/>
              <a:t>, suggesting a recurring seasonal sales cycle.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CC3CC1E4-E039-802E-8149-F3C3858422B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4115702" y="3204406"/>
            <a:ext cx="7390498" cy="3139231"/>
          </a:xfrm>
          <a:prstGeom prst="rect">
            <a:avLst/>
          </a:prstGeom>
        </p:spPr>
      </p:pic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037C5033-6211-42AA-9CC0-0C3B7DE1CD89}"/>
              </a:ext>
            </a:extLst>
          </p:cNvPr>
          <p:cNvSpPr txBox="1">
            <a:spLocks/>
          </p:cNvSpPr>
          <p:nvPr/>
        </p:nvSpPr>
        <p:spPr>
          <a:xfrm>
            <a:off x="685800" y="2168893"/>
            <a:ext cx="2713756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u="sng" dirty="0"/>
              <a:t>Key Insight</a:t>
            </a:r>
          </a:p>
        </p:txBody>
      </p:sp>
    </p:spTree>
    <p:extLst>
      <p:ext uri="{BB962C8B-B14F-4D97-AF65-F5344CB8AC3E}">
        <p14:creationId xmlns:p14="http://schemas.microsoft.com/office/powerpoint/2010/main" val="661166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E4EF6-E3BA-7EDF-C909-D00BF0C33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47376-B3E4-E63C-E461-11AE0B810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4604" y="762000"/>
            <a:ext cx="11570804" cy="1295400"/>
          </a:xfrm>
        </p:spPr>
        <p:txBody>
          <a:bodyPr/>
          <a:lstStyle/>
          <a:p>
            <a:r>
              <a:rPr lang="en-US" dirty="0"/>
              <a:t>Exploratory Data Analysis (EDA)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16563A-2771-0106-3EE1-E4682E083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7437" y="2218257"/>
            <a:ext cx="6455456" cy="823912"/>
          </a:xfrm>
        </p:spPr>
        <p:txBody>
          <a:bodyPr>
            <a:normAutofit/>
          </a:bodyPr>
          <a:lstStyle/>
          <a:p>
            <a:pPr algn="ctr"/>
            <a:r>
              <a:rPr lang="en-US" u="sng" dirty="0"/>
              <a:t>Monthly Profit Trend (2014–2017)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C649249-D304-F1D7-2DEC-DDCD701F6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799" y="3257618"/>
            <a:ext cx="3344517" cy="30860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Profit Mirrors Revenue: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The monthly profit curve closely follows the revenue curve, suggesting </a:t>
            </a:r>
            <a:r>
              <a:rPr lang="en-US" b="1" dirty="0"/>
              <a:t>stable cost of goods sold</a:t>
            </a:r>
            <a:r>
              <a:rPr lang="en-US" dirty="0"/>
              <a:t> relative to sales prices over the 4-year period.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B7D6D65-CB77-1DC3-DF65-CE81E4F32419}"/>
              </a:ext>
            </a:extLst>
          </p:cNvPr>
          <p:cNvSpPr txBox="1">
            <a:spLocks/>
          </p:cNvSpPr>
          <p:nvPr/>
        </p:nvSpPr>
        <p:spPr>
          <a:xfrm>
            <a:off x="685799" y="2218257"/>
            <a:ext cx="2713756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u="sng" dirty="0"/>
              <a:t>Key Insight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25FCC0F-1230-4E2A-E668-4ED48C17117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4224130" y="3257618"/>
            <a:ext cx="7282070" cy="309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555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0DF9F-CC6A-4FC5-E212-D397C646D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E75EF-CF98-6C93-3CDE-B4ADFC4B0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5105"/>
            <a:ext cx="11570804" cy="1295400"/>
          </a:xfrm>
        </p:spPr>
        <p:txBody>
          <a:bodyPr/>
          <a:lstStyle/>
          <a:p>
            <a:r>
              <a:rPr lang="en-US" dirty="0"/>
              <a:t>Exploratory Data Analysis (EDA)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C4C0F4E-C413-843B-2A45-3B217C36D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995" y="1491215"/>
            <a:ext cx="7010771" cy="823912"/>
          </a:xfrm>
        </p:spPr>
        <p:txBody>
          <a:bodyPr>
            <a:normAutofit/>
          </a:bodyPr>
          <a:lstStyle/>
          <a:p>
            <a:pPr algn="ctr"/>
            <a:r>
              <a:rPr lang="en-US" u="sng" dirty="0"/>
              <a:t>Regional Revenue Performance (YOY)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C65B4A6-02F6-16DF-EF06-3369239AA3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799" y="2466218"/>
            <a:ext cx="3344517" cy="38774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West Dominance: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West</a:t>
            </a:r>
            <a:r>
              <a:rPr lang="en-US" dirty="0"/>
              <a:t> region is the unequivocal revenue leader, consistently contributing the largest total sales volume across all four years.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7C3D6CA-F95B-45DE-CD8B-049A1291192F}"/>
              </a:ext>
            </a:extLst>
          </p:cNvPr>
          <p:cNvSpPr txBox="1">
            <a:spLocks/>
          </p:cNvSpPr>
          <p:nvPr/>
        </p:nvSpPr>
        <p:spPr>
          <a:xfrm>
            <a:off x="685799" y="1491215"/>
            <a:ext cx="2713756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u="sng" dirty="0"/>
              <a:t>Key Insight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CF2C93A-A3E1-6ADC-5392-87BD50F9196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5539844" y="2466218"/>
            <a:ext cx="5403071" cy="406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515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38995-2534-554F-7A8F-579FC9691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CC909-C3A5-499B-AEED-090A516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5105"/>
            <a:ext cx="11570804" cy="1295400"/>
          </a:xfrm>
        </p:spPr>
        <p:txBody>
          <a:bodyPr/>
          <a:lstStyle/>
          <a:p>
            <a:r>
              <a:rPr lang="en-US" dirty="0"/>
              <a:t>Exploratory Data Analysis (EDA)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1B14E63-E14F-A9E1-51CB-7B9A7A539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5617" y="1481621"/>
            <a:ext cx="7010771" cy="823912"/>
          </a:xfrm>
        </p:spPr>
        <p:txBody>
          <a:bodyPr>
            <a:normAutofit/>
          </a:bodyPr>
          <a:lstStyle/>
          <a:p>
            <a:pPr algn="ctr"/>
            <a:r>
              <a:rPr lang="en-US" u="sng" dirty="0"/>
              <a:t>Regional Profit Performance (YOY)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99E4091-D6BC-6243-1C87-4F2E1B817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799" y="2533214"/>
            <a:ext cx="3344517" cy="3810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Margin Consistency:</a:t>
            </a:r>
          </a:p>
          <a:p>
            <a:pPr marL="0" indent="0">
              <a:buNone/>
            </a:pPr>
            <a:r>
              <a:rPr lang="en-US" dirty="0"/>
              <a:t>Comparison with the Revenue chart shows all regions maintain similar profit margins over time, with no single region demonstrating unusually low or high profitability.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383FA42A-BF2F-5120-E8B9-81A7FDE03F70}"/>
              </a:ext>
            </a:extLst>
          </p:cNvPr>
          <p:cNvSpPr txBox="1">
            <a:spLocks/>
          </p:cNvSpPr>
          <p:nvPr/>
        </p:nvSpPr>
        <p:spPr>
          <a:xfrm>
            <a:off x="685799" y="1491215"/>
            <a:ext cx="2713756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u="sng" dirty="0"/>
              <a:t>Key Insight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A8C1781-CC1A-5449-5916-E0DF3AB6037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5498951" y="2463640"/>
            <a:ext cx="5404104" cy="406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047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C859317-826F-6DF0-A988-27077D419B5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4070074" y="3317738"/>
            <a:ext cx="7488170" cy="28865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DF345EF-1A1D-028E-6DB3-E6B4D9EFF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1174" y="762000"/>
            <a:ext cx="10065026" cy="1295400"/>
          </a:xfrm>
        </p:spPr>
        <p:txBody>
          <a:bodyPr/>
          <a:lstStyle/>
          <a:p>
            <a:r>
              <a:rPr lang="en-US" dirty="0"/>
              <a:t>Exploratory Data Analysis (EDA)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857B027-4FAE-58D8-39B1-2F9301F35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799" y="3257618"/>
            <a:ext cx="3344517" cy="30860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Lowest Performance: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1" dirty="0"/>
              <a:t>Winter</a:t>
            </a:r>
            <a:r>
              <a:rPr lang="en-US" dirty="0"/>
              <a:t> consistently performs the lowest in both total Revenue and total Profit, confirming the annual seasonal slowdown identified in the monthly analysis.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8D38F9E-A011-163B-6D5D-1FCD00273F26}"/>
              </a:ext>
            </a:extLst>
          </p:cNvPr>
          <p:cNvSpPr txBox="1">
            <a:spLocks/>
          </p:cNvSpPr>
          <p:nvPr/>
        </p:nvSpPr>
        <p:spPr>
          <a:xfrm>
            <a:off x="685799" y="2218257"/>
            <a:ext cx="2713756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u="sng" dirty="0"/>
              <a:t>Key Insight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98860BA5-E556-7EFE-CC99-B4151BCA9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431" y="2218257"/>
            <a:ext cx="6455456" cy="823912"/>
          </a:xfrm>
        </p:spPr>
        <p:txBody>
          <a:bodyPr>
            <a:normAutofit/>
          </a:bodyPr>
          <a:lstStyle/>
          <a:p>
            <a:pPr algn="ctr"/>
            <a:r>
              <a:rPr lang="en-US" u="sng" dirty="0"/>
              <a:t>Seasonal Financial Summary</a:t>
            </a:r>
          </a:p>
        </p:txBody>
      </p:sp>
    </p:spTree>
    <p:extLst>
      <p:ext uri="{BB962C8B-B14F-4D97-AF65-F5344CB8AC3E}">
        <p14:creationId xmlns:p14="http://schemas.microsoft.com/office/powerpoint/2010/main" val="2262455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11ACC-1B82-C4D2-D502-6BD9B56DB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98B79-0DF5-953A-CC5F-C072AEA8E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5105"/>
            <a:ext cx="11570804" cy="1295400"/>
          </a:xfrm>
        </p:spPr>
        <p:txBody>
          <a:bodyPr/>
          <a:lstStyle/>
          <a:p>
            <a:r>
              <a:rPr lang="en-US" dirty="0"/>
              <a:t>Exploratory Data Analysis (EDA)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A650DC6-3719-2FC4-2D93-9A9AB2A9B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5616" y="1491215"/>
            <a:ext cx="7010771" cy="823912"/>
          </a:xfrm>
        </p:spPr>
        <p:txBody>
          <a:bodyPr>
            <a:normAutofit/>
          </a:bodyPr>
          <a:lstStyle/>
          <a:p>
            <a:pPr algn="ctr"/>
            <a:r>
              <a:rPr lang="en-US" u="sng" dirty="0"/>
              <a:t>Order Quantity by Season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D446C89-CFCC-CB98-C438-10F6B66C1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799" y="2533214"/>
            <a:ext cx="4497458" cy="3810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Volume vs. Value: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The difference between this chart and the Seasonal Financial Summary chart suggests that higher-value items are more frequently sold in </a:t>
            </a:r>
            <a:r>
              <a:rPr lang="en-US" b="1" dirty="0"/>
              <a:t>Spring/Autumn</a:t>
            </a:r>
            <a:r>
              <a:rPr lang="en-US" dirty="0"/>
              <a:t>, while lower-value items may compensate in volume during other seasons.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A114A7A-D79F-9EB4-1799-3B3E5386D44F}"/>
              </a:ext>
            </a:extLst>
          </p:cNvPr>
          <p:cNvSpPr txBox="1">
            <a:spLocks/>
          </p:cNvSpPr>
          <p:nvPr/>
        </p:nvSpPr>
        <p:spPr>
          <a:xfrm>
            <a:off x="685799" y="1491215"/>
            <a:ext cx="2713756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u="sng" dirty="0"/>
              <a:t>Key Insight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19C1434A-5A33-E794-AB63-2D7CB0F7FE3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5498950" y="2533214"/>
            <a:ext cx="5404104" cy="4035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733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CCBB2-7733-5EF2-331A-B8F9D8EE5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C0E84CE-A20B-D14F-D7D9-D8206BBED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1174" y="762000"/>
            <a:ext cx="10065026" cy="1295400"/>
          </a:xfrm>
        </p:spPr>
        <p:txBody>
          <a:bodyPr/>
          <a:lstStyle/>
          <a:p>
            <a:r>
              <a:rPr lang="en-US" dirty="0"/>
              <a:t>Exploratory Data Analysis (EDA)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D725B2-D0BE-CC51-C3B9-97924D14F5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799" y="3257618"/>
            <a:ext cx="3344517" cy="30860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Product Purity: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Most top-revenue products are also top-profit products, signifying strong gross margins across the high-volume SKU mix.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DE1B5BA-E28D-36F8-E1D4-D50D3F293178}"/>
              </a:ext>
            </a:extLst>
          </p:cNvPr>
          <p:cNvSpPr txBox="1">
            <a:spLocks/>
          </p:cNvSpPr>
          <p:nvPr/>
        </p:nvSpPr>
        <p:spPr>
          <a:xfrm>
            <a:off x="685799" y="2218257"/>
            <a:ext cx="2713756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u="sng" dirty="0"/>
              <a:t>Key Insight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6A660D9C-D4DC-A488-9BB4-F364EF589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431" y="2218257"/>
            <a:ext cx="6455456" cy="823912"/>
          </a:xfrm>
        </p:spPr>
        <p:txBody>
          <a:bodyPr>
            <a:normAutofit/>
          </a:bodyPr>
          <a:lstStyle/>
          <a:p>
            <a:pPr algn="ctr"/>
            <a:r>
              <a:rPr lang="en-US" u="sng" dirty="0"/>
              <a:t>Top 10 Products: Revenue vs. Profit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E7D785-8F8E-E39A-9A36-D106F0A9303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4069691" y="3257618"/>
            <a:ext cx="7488936" cy="318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181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DAB6F-D5B4-EA16-37BA-96813F227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E5D85-2B50-08E8-06A9-3801E2CB7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5105"/>
            <a:ext cx="11570804" cy="1295400"/>
          </a:xfrm>
        </p:spPr>
        <p:txBody>
          <a:bodyPr/>
          <a:lstStyle/>
          <a:p>
            <a:r>
              <a:rPr lang="en-US" dirty="0"/>
              <a:t>Exploratory Data Analysis (EDA)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1A23B1-56EB-D23C-088C-C770013AA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5617" y="1481621"/>
            <a:ext cx="7010771" cy="823912"/>
          </a:xfrm>
        </p:spPr>
        <p:txBody>
          <a:bodyPr>
            <a:normAutofit/>
          </a:bodyPr>
          <a:lstStyle/>
          <a:p>
            <a:pPr algn="ctr"/>
            <a:r>
              <a:rPr lang="en-US" u="sng" dirty="0"/>
              <a:t>Top 10 Product Revenues by Region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11C670E-A51D-8427-447B-F44F37876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799" y="2533214"/>
            <a:ext cx="4009818" cy="3810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West &amp; South Concentration: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Product sales are heavily concentrated in the two largest regions, </a:t>
            </a:r>
            <a:r>
              <a:rPr lang="en-US" b="1" dirty="0"/>
              <a:t>West</a:t>
            </a:r>
            <a:r>
              <a:rPr lang="en-US" dirty="0"/>
              <a:t> and </a:t>
            </a:r>
            <a:r>
              <a:rPr lang="en-US" b="1" dirty="0"/>
              <a:t>South</a:t>
            </a:r>
            <a:r>
              <a:rPr lang="en-US" dirty="0"/>
              <a:t>.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97D53B32-BCD2-FACF-F310-E0D06E751D2C}"/>
              </a:ext>
            </a:extLst>
          </p:cNvPr>
          <p:cNvSpPr txBox="1">
            <a:spLocks/>
          </p:cNvSpPr>
          <p:nvPr/>
        </p:nvSpPr>
        <p:spPr>
          <a:xfrm>
            <a:off x="685799" y="1491215"/>
            <a:ext cx="2713756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u="sng" dirty="0"/>
              <a:t>Key Insight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C540835D-935A-E439-34D3-05E544D5F41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5799365" y="2422174"/>
            <a:ext cx="4803273" cy="403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77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DA40E-4A9C-FF80-5F2E-56A1D3650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F2379-AAA6-A7B1-869B-01BB1DB5A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5105"/>
            <a:ext cx="11570804" cy="1295400"/>
          </a:xfrm>
        </p:spPr>
        <p:txBody>
          <a:bodyPr/>
          <a:lstStyle/>
          <a:p>
            <a:r>
              <a:rPr lang="en-US" dirty="0"/>
              <a:t>Exploratory Data Analysis (EDA)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E49226B-664C-1F62-B0D2-A4AB3D28E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5617" y="1481621"/>
            <a:ext cx="7010771" cy="823912"/>
          </a:xfrm>
        </p:spPr>
        <p:txBody>
          <a:bodyPr>
            <a:normAutofit/>
          </a:bodyPr>
          <a:lstStyle/>
          <a:p>
            <a:pPr algn="ctr"/>
            <a:r>
              <a:rPr lang="en-US" u="sng" dirty="0"/>
              <a:t>Total Revenue by Channel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7ED6373-593A-4B02-1B34-2A103FAC4C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799" y="2533214"/>
            <a:ext cx="4009818" cy="3810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Dominant Channel: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Identified </a:t>
            </a:r>
            <a:r>
              <a:rPr lang="en-US" b="1" dirty="0"/>
              <a:t>Wholesale</a:t>
            </a:r>
            <a:r>
              <a:rPr lang="en-US" dirty="0"/>
              <a:t> as the single channel that delivers the largest percentage of total sales revenue.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E66E9F8C-F025-635A-AC46-35F883ADB6A6}"/>
              </a:ext>
            </a:extLst>
          </p:cNvPr>
          <p:cNvSpPr txBox="1">
            <a:spLocks/>
          </p:cNvSpPr>
          <p:nvPr/>
        </p:nvSpPr>
        <p:spPr>
          <a:xfrm>
            <a:off x="685799" y="1491215"/>
            <a:ext cx="2713756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u="sng" dirty="0"/>
              <a:t>Key Insight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62DFBFA-97B4-BFE5-09CC-4C520E6D45C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5482909" y="2408458"/>
            <a:ext cx="5436185" cy="405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866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953B0C-D1FD-B57E-F3EF-2D25C88D8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B7C61CF-4C2D-5F3C-B9BF-387B091D0E1B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Expand Geographically:</a:t>
            </a:r>
            <a:r>
              <a:rPr lang="en-US" sz="2000" dirty="0"/>
              <a:t> The </a:t>
            </a:r>
            <a:r>
              <a:rPr lang="en-US" sz="2000" b="1" dirty="0"/>
              <a:t>West and South regions dominate</a:t>
            </a:r>
            <a:r>
              <a:rPr lang="en-US" sz="2000" dirty="0"/>
              <a:t> revenue and profit. Target the </a:t>
            </a:r>
            <a:r>
              <a:rPr lang="en-US" sz="2000" b="1" dirty="0"/>
              <a:t>Midwest</a:t>
            </a:r>
            <a:r>
              <a:rPr lang="en-US" sz="2000" dirty="0"/>
              <a:t> and </a:t>
            </a:r>
            <a:r>
              <a:rPr lang="en-US" sz="2000" b="1" dirty="0"/>
              <a:t>Northeast</a:t>
            </a:r>
            <a:r>
              <a:rPr lang="en-US" sz="2000" dirty="0"/>
              <a:t> for market expansion using the </a:t>
            </a:r>
            <a:r>
              <a:rPr lang="en-US" sz="2000" b="1" dirty="0"/>
              <a:t>Top 10 SKUs</a:t>
            </a:r>
            <a:r>
              <a:rPr lang="en-US" sz="2000" dirty="0"/>
              <a:t> to diversify risk and capture untapped potential.</a:t>
            </a:r>
          </a:p>
          <a:p>
            <a:r>
              <a:rPr lang="en-US" sz="2000" b="1" dirty="0"/>
              <a:t>Mitigate Winter Slump:</a:t>
            </a:r>
            <a:r>
              <a:rPr lang="en-US" sz="2000" dirty="0"/>
              <a:t> Implement a focused </a:t>
            </a:r>
            <a:r>
              <a:rPr lang="en-US" sz="2000" b="1" dirty="0"/>
              <a:t>Q1 Revenue Protection Strategy</a:t>
            </a:r>
            <a:r>
              <a:rPr lang="en-US" sz="2000" dirty="0"/>
              <a:t> (e.g., promotional bundles or incentives) to offset the recurring financial and volume drop seen during the </a:t>
            </a:r>
            <a:r>
              <a:rPr lang="en-US" sz="2000" b="1" dirty="0"/>
              <a:t>Winter season</a:t>
            </a:r>
            <a:r>
              <a:rPr lang="en-US" sz="2000" dirty="0"/>
              <a:t>.</a:t>
            </a:r>
          </a:p>
          <a:p>
            <a:r>
              <a:rPr lang="en-US" sz="2000" b="1" dirty="0"/>
              <a:t>Prioritize Top-Tier SKUs:</a:t>
            </a:r>
            <a:r>
              <a:rPr lang="en-US" sz="2000" dirty="0"/>
              <a:t> Dedicate the majority of inventory, production, and marketing spend to the </a:t>
            </a:r>
            <a:r>
              <a:rPr lang="en-US" sz="2000" b="1" dirty="0"/>
              <a:t>Top 10 Products</a:t>
            </a:r>
            <a:r>
              <a:rPr lang="en-US" sz="2000" dirty="0"/>
              <a:t>. Their performance drives a disproportionate share of total profit and requires focused resource allocation.</a:t>
            </a:r>
          </a:p>
          <a:p>
            <a:r>
              <a:rPr lang="en-US" sz="2000" b="1" dirty="0"/>
              <a:t>Optimize Channel Margin:</a:t>
            </a:r>
            <a:r>
              <a:rPr lang="en-US" sz="2000" dirty="0"/>
              <a:t> Review the cost-to-serve for the highest revenue-generating channels. </a:t>
            </a:r>
            <a:r>
              <a:rPr lang="en-US" sz="2000" b="1" dirty="0"/>
              <a:t>Audit the largest channels</a:t>
            </a:r>
            <a:r>
              <a:rPr lang="en-US" sz="2000" dirty="0"/>
              <a:t> to ensure their </a:t>
            </a:r>
            <a:r>
              <a:rPr lang="en-US" sz="2000" b="1" dirty="0"/>
              <a:t>Profit Share</a:t>
            </a:r>
            <a:r>
              <a:rPr lang="en-US" sz="2000" dirty="0"/>
              <a:t> is proportional to their </a:t>
            </a:r>
            <a:r>
              <a:rPr lang="en-US" sz="2000" b="1" dirty="0"/>
              <a:t>Revenue Share</a:t>
            </a:r>
            <a:r>
              <a:rPr lang="en-US" sz="2000" dirty="0"/>
              <a:t>, flagging any that operate with surprisingly low margins.</a:t>
            </a:r>
          </a:p>
        </p:txBody>
      </p:sp>
    </p:spTree>
    <p:extLst>
      <p:ext uri="{BB962C8B-B14F-4D97-AF65-F5344CB8AC3E}">
        <p14:creationId xmlns:p14="http://schemas.microsoft.com/office/powerpoint/2010/main" val="91089926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155</TotalTime>
  <Words>884</Words>
  <Application>Microsoft Office PowerPoint</Application>
  <PresentationFormat>Widescreen</PresentationFormat>
  <Paragraphs>93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Century Gothic</vt:lpstr>
      <vt:lpstr>Vapor Trail</vt:lpstr>
      <vt:lpstr>Regional Sales Analysis </vt:lpstr>
      <vt:lpstr>Problem Statement &amp; objective</vt:lpstr>
      <vt:lpstr>Approach</vt:lpstr>
      <vt:lpstr>Data overview</vt:lpstr>
      <vt:lpstr>Project Workflow</vt:lpstr>
      <vt:lpstr>Exploratory Data Analysis (EDA)</vt:lpstr>
      <vt:lpstr>Exploratory Data Analysis (EDA)</vt:lpstr>
      <vt:lpstr>Exploratory Data Analysis (EDA)</vt:lpstr>
      <vt:lpstr>Exploratory Data Analysis (EDA)</vt:lpstr>
      <vt:lpstr>Exploratory Data Analysis (EDA)</vt:lpstr>
      <vt:lpstr>Exploratory Data Analysis (EDA)</vt:lpstr>
      <vt:lpstr>Exploratory Data Analysis (EDA)</vt:lpstr>
      <vt:lpstr>Exploratory Data Analysis (EDA)</vt:lpstr>
      <vt:lpstr>Exploratory Data Analysis (EDA)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chada</dc:creator>
  <cp:lastModifiedBy>chada</cp:lastModifiedBy>
  <cp:revision>12</cp:revision>
  <dcterms:created xsi:type="dcterms:W3CDTF">2025-09-27T01:09:40Z</dcterms:created>
  <dcterms:modified xsi:type="dcterms:W3CDTF">2025-09-27T03:44:52Z</dcterms:modified>
</cp:coreProperties>
</file>